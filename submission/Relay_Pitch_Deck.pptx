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0" b="1">
                <a:solidFill>
                  <a:srgbClr val="F5F7F4"/>
                </a:solidFill>
                <a:latin typeface="Segoe UI"/>
              </a:rPr>
              <a:t>Relay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9FB3AC"/>
                </a:solidFill>
                <a:latin typeface="Segoe UI"/>
              </a:rPr>
              <a:t>An on-device, voice-controlled, screen-reading accessibility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0350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6B6E"/>
                </a:solidFill>
                <a:latin typeface="Segoe UI"/>
              </a:rPr>
              <a:t>Snapdragon AI Lab Build &amp; Present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4547"/>
                </a:solidFill>
                <a:latin typeface="Segoe UI"/>
              </a:rPr>
              <a:t>THE PROBLEM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0698480" cy="0"/>
          </a:xfrm>
          <a:prstGeom prst="line">
            <a:avLst/>
          </a:prstGeom>
          <a:ln w="1270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0972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151A"/>
                </a:solidFill>
                <a:latin typeface="Segoe UI"/>
              </a:rPr>
              <a:t>Point-and-click assumes hands and eyesight most people don't have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0">
                <a:solidFill>
                  <a:srgbClr val="3F4A47"/>
                </a:solidFill>
                <a:latin typeface="Segoe UI"/>
              </a:rPr>
              <a:t>—  People with limited hand mobility or low vision can't reliably operate a Windows PC through a mouse and a screen alone.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F4A47"/>
                </a:solidFill>
                <a:latin typeface="Segoe UI"/>
              </a:rPr>
              <a:t>—  Existing screen readers describe a screen; they don't act on it. Existing automation agents act, but weren't built for this population's safety needs.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F4A47"/>
                </a:solidFill>
                <a:latin typeface="Segoe UI"/>
              </a:rPr>
              <a:t>—  The gap: a voice-first agent that both understands the screen and acts on it — with a person narrating every step.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4547"/>
                </a:solidFill>
                <a:latin typeface="Segoe UI"/>
              </a:rPr>
              <a:t>THE PRODUCT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0698480" cy="0"/>
          </a:xfrm>
          <a:prstGeom prst="line">
            <a:avLst/>
          </a:prstGeom>
          <a:ln w="1270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0972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151A"/>
                </a:solidFill>
                <a:latin typeface="Segoe UI"/>
              </a:rPr>
              <a:t>"Open my email and read me the new ones" — that’s the whole interaction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0">
                <a:solidFill>
                  <a:srgbClr val="3F4A47"/>
                </a:solidFill>
                <a:latin typeface="Segoe UI"/>
              </a:rPr>
              <a:t>—  Voice in, spoken result out. No pointing, no reading required.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F4A47"/>
                </a:solidFill>
                <a:latin typeface="Segoe UI"/>
              </a:rPr>
              <a:t>—  Deliberately not a general autonomous computer-use agent — scoped assistive technology.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F4A47"/>
                </a:solidFill>
                <a:latin typeface="Segoe UI"/>
              </a:rPr>
              <a:t>—  A person narrates every step, and nothing consequential happens without a spoken “yes.” That's a feature of the design, not a limitation.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4547"/>
                </a:solidFill>
                <a:latin typeface="Segoe UI"/>
              </a:rPr>
              <a:t>ARCHITECTURE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0698480" cy="0"/>
          </a:xfrm>
          <a:prstGeom prst="line">
            <a:avLst/>
          </a:prstGeom>
          <a:ln w="1270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0972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151A"/>
                </a:solidFill>
                <a:latin typeface="Segoe UI"/>
              </a:rPr>
              <a:t>Screen understanding is tree-first, vision-second — not the other way around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103120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0151A"/>
                </a:solidFill>
                <a:latin typeface="Segoe UI"/>
              </a:rPr>
              <a:t>Voice command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1576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0151A"/>
                </a:solidFill>
                <a:latin typeface="Segoe UI"/>
              </a:rPr>
              <a:t>Whisper (speech-to-text)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328416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0151A"/>
                </a:solidFill>
                <a:latin typeface="Segoe UI"/>
              </a:rPr>
              <a:t>Screen understanding — UI Automation tree first, vision model on fallback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941064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0151A"/>
                </a:solidFill>
                <a:latin typeface="Segoe UI"/>
              </a:rPr>
              <a:t>Small local reasoning model decides the next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553712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B4547"/>
                </a:solidFill>
                <a:latin typeface="Segoe UI"/>
              </a:rPr>
              <a:t>Guardrail check — ALLOW / CONFIRM (spoken yes) / 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5166360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0151A"/>
                </a:solidFill>
                <a:latin typeface="Segoe UI"/>
              </a:rPr>
              <a:t>Action executes against the real UI element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779008"/>
            <a:ext cx="8503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0151A"/>
                </a:solidFill>
                <a:latin typeface="Segoe UI"/>
              </a:rPr>
              <a:t>MeloTTS speaks the result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4547"/>
                </a:solidFill>
                <a:latin typeface="Segoe UI"/>
              </a:rPr>
              <a:t>THE DIFFERENTIATOR — VERIFIED AGAINST FOUR REAL COMPARABLE PROJECTS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0698480" cy="0"/>
          </a:xfrm>
          <a:prstGeom prst="line">
            <a:avLst/>
          </a:prstGeom>
          <a:ln w="1270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0972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151A"/>
                </a:solidFill>
                <a:latin typeface="Segoe UI"/>
              </a:rPr>
              <a:t>Relay is the only one with a deterministic, code-level safety gate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103120"/>
          <a:ext cx="103327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76072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5F7F4"/>
                          </a:solidFill>
                        </a:rPr>
                        <a:t>Project</a:t>
                      </a:r>
                    </a:p>
                  </a:txBody>
                  <a:tcPr>
                    <a:solidFill>
                      <a:srgbClr val="1015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5F7F4"/>
                          </a:solidFill>
                        </a:rPr>
                        <a:t>Safety mechanism</a:t>
                      </a:r>
                    </a:p>
                  </a:txBody>
                  <a:tcPr>
                    <a:solidFill>
                      <a:srgbClr val="1015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5F7F4"/>
                          </a:solidFill>
                        </a:rPr>
                        <a:t>Enforcement</a:t>
                      </a:r>
                    </a:p>
                  </a:txBody>
                  <a:tcPr>
                    <a:solidFill>
                      <a:srgbClr val="10151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 b="0">
                          <a:solidFill>
                            <a:srgbClr val="3F4A47"/>
                          </a:solidFill>
                        </a:rPr>
                        <a:t>Deft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 b="0">
                          <a:solidFill>
                            <a:srgbClr val="3F4A47"/>
                          </a:solidFill>
                        </a:rPr>
                        <a:t>None found anywhere in either backing repo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 b="0">
                          <a:solidFill>
                            <a:srgbClr val="3F4A47"/>
                          </a:solidFill>
                        </a:rPr>
                        <a:t>N/A — unconditional dispatch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 b="0">
                          <a:solidFill>
                            <a:srgbClr val="3F4A47"/>
                          </a:solidFill>
                        </a:rPr>
                        <a:t>Orbit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 b="0">
                          <a:solidFill>
                            <a:srgbClr val="3F4A47"/>
                          </a:solidFill>
                        </a:rPr>
                        <a:t>None — but never takes actions at all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 b="0">
                          <a:solidFill>
                            <a:srgbClr val="3F4A47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 b="0">
                          <a:solidFill>
                            <a:srgbClr val="3F4A47"/>
                          </a:solidFill>
                        </a:rPr>
                        <a:t>ScreenSaathi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 b="0">
                          <a:solidFill>
                            <a:srgbClr val="3F4A47"/>
                          </a:solidFill>
                        </a:rPr>
                        <a:t>Keyword list downgrades risky plans to guide-only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 b="0">
                          <a:solidFill>
                            <a:srgbClr val="3F4A47"/>
                          </a:solidFill>
                        </a:rPr>
                        <a:t>Code-level, deterministic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 b="0">
                          <a:solidFill>
                            <a:srgbClr val="3F4A47"/>
                          </a:solidFill>
                        </a:rPr>
                        <a:t>Sally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 b="0">
                          <a:solidFill>
                            <a:srgbClr val="3F4A47"/>
                          </a:solidFill>
                        </a:rPr>
                        <a:t>A prompt instruction asking the model nicely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 b="0">
                          <a:solidFill>
                            <a:srgbClr val="3F4A47"/>
                          </a:solidFill>
                        </a:rPr>
                        <a:t>Model-enforced only — no code backstop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 b="1">
                          <a:solidFill>
                            <a:srgbClr val="0B4547"/>
                          </a:solidFill>
                        </a:rPr>
                        <a:t>Relay</a:t>
                      </a:r>
                    </a:p>
                  </a:txBody>
                  <a:tcPr>
                    <a:solidFill>
                      <a:srgbClr val="EAEF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 b="1">
                          <a:solidFill>
                            <a:srgbClr val="0B4547"/>
                          </a:solidFill>
                        </a:rPr>
                        <a:t>Two-tier ALLOW / CONFIRM / BLOCK + spoken yes + audit log</a:t>
                      </a:r>
                    </a:p>
                  </a:txBody>
                  <a:tcPr>
                    <a:solidFill>
                      <a:srgbClr val="EAEF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300" b="1">
                          <a:solidFill>
                            <a:srgbClr val="0B4547"/>
                          </a:solidFill>
                        </a:rPr>
                        <a:t>Code-level, deterministic, pre-execution</a:t>
                      </a:r>
                    </a:p>
                  </a:txBody>
                  <a:tcPr>
                    <a:solidFill>
                      <a:srgbClr val="EAEFE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943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F4A47"/>
                </a:solidFill>
                <a:latin typeface="Segoe UI"/>
              </a:rPr>
              <a:t>Sourced from reading each project's real, public source code — not a secondhand summary. See COMPETITIVE_RESEARCH.md.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4547"/>
                </a:solidFill>
                <a:latin typeface="Segoe UI"/>
              </a:rPr>
              <a:t>VERIFIED, NOT CLAIMED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0698480" cy="0"/>
          </a:xfrm>
          <a:prstGeom prst="line">
            <a:avLst/>
          </a:prstGeom>
          <a:ln w="1270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0972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151A"/>
                </a:solidFill>
                <a:latin typeface="Segoe UI"/>
              </a:rPr>
              <a:t>Every non-NPU piece of the pipeline has been run for real, on this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0">
                <a:solidFill>
                  <a:srgbClr val="3F4A47"/>
                </a:solidFill>
                <a:latin typeface="Segoe UI"/>
              </a:rPr>
              <a:t>—  Whisper speech-to-text: real transcription of a known test clip, 3 independent ways.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F4A47"/>
                </a:solidFill>
                <a:latin typeface="Segoe UI"/>
              </a:rPr>
              <a:t>—  MeloTTS-EN: real synthesis, real audio, played back through real speakers.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F4A47"/>
                </a:solidFill>
                <a:latin typeface="Segoe UI"/>
              </a:rPr>
              <a:t>—  The full agent.py orchestration loop: a real mic recording → real transcription → real UI Automation tree read → real guardrail gate → real action → real speech, proven end to end against a live window.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F4A47"/>
                </a:solidFill>
                <a:latin typeface="Segoe UI"/>
              </a:rPr>
              <a:t>—  Chromium accessibility gap (Edge/Outlook can't be read via UI Automation): found, verified, and fixed for Edge via Chrome DevTools Protocol — demonstrated live against a real Wikipedia page.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F4A47"/>
                </a:solidFill>
                <a:latin typeface="Segoe UI"/>
              </a:rPr>
              <a:t>—  The one honest gap: LocalReasoner itself needs Snapdragon's on-device NPU (GenieX), which this dev machine doesn't have.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4547"/>
                </a:solidFill>
                <a:latin typeface="Segoe UI"/>
              </a:rPr>
              <a:t>REAL SNAPDRAGON HARDWARE — QUALCOMM AI HUB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0698480" cy="0"/>
          </a:xfrm>
          <a:prstGeom prst="line">
            <a:avLst/>
          </a:prstGeom>
          <a:ln w="1270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0972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151A"/>
                </a:solidFill>
                <a:latin typeface="Segoe UI"/>
              </a:rPr>
              <a:t>Whisper-base, compiled and profiled on a real Snapdragon X Elite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5166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B4547"/>
                </a:solidFill>
                <a:latin typeface="Segoe UI"/>
              </a:rPr>
              <a:t>~49.1 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F4A47"/>
                </a:solidFill>
                <a:latin typeface="Segoe UI"/>
              </a:rPr>
              <a:t>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2560320"/>
            <a:ext cx="5166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0B4547"/>
                </a:solidFill>
                <a:latin typeface="Segoe UI"/>
              </a:rPr>
              <a:t>~3.7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3794760"/>
            <a:ext cx="5166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F4A47"/>
                </a:solidFill>
                <a:latin typeface="Segoe UI"/>
              </a:rPr>
              <a:t>decoder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846320"/>
            <a:ext cx="9784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F4A47"/>
                </a:solidFill>
                <a:latin typeface="Segoe UI"/>
              </a:rPr>
              <a:t>A real compile + profile job on Qualcomm AI Hub's hosted device farm — not a simulation, and an order of magnitude faster than this laptop's CPU. Precisely scoped: this is AI Hub's compile/profile path, not yet a full GenieX runtime measurement, which needs physical device access.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4547"/>
                </a:solidFill>
                <a:latin typeface="Segoe UI"/>
              </a:rPr>
              <a:t>TWO SURFACES, TWO AUDIENCES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0698480" cy="0"/>
          </a:xfrm>
          <a:prstGeom prst="line">
            <a:avLst/>
          </a:prstGeom>
          <a:ln w="1270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0972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151A"/>
                </a:solidFill>
                <a:latin typeface="Segoe UI"/>
              </a:rPr>
              <a:t>The end user in the moment of use, and whoever configures the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0">
                <a:solidFill>
                  <a:srgbClr val="3F4A47"/>
                </a:solidFill>
                <a:latin typeface="Segoe UI"/>
              </a:rPr>
              <a:t>—  End-user runtime UI: 7 explicit states (listening, transcribing, deciding, confirming, acting, blocked, error) — WCAG AAA contrast (7:1), verified by computed contrast ratios, not eyeballed.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F4A47"/>
                </a:solidFill>
                <a:latin typeface="Segoe UI"/>
              </a:rPr>
              <a:t>—  The confirmation screen is the single highest-stakes moment in the product: distinct shape and color, never color alone, spoken aloud as well as shown.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F4A47"/>
                </a:solidFill>
                <a:latin typeface="Segoe UI"/>
              </a:rPr>
              <a:t>—  Guardrail-admin surface: reads guardrails.py's real CONFIRM/BLOCK patterns directly — can't drift out of sync with a hand-maintained copy.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4547"/>
                </a:solidFill>
                <a:latin typeface="Segoe UI"/>
              </a:rPr>
              <a:t>HONEST ROADMAP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960120"/>
            <a:ext cx="10698480" cy="0"/>
          </a:xfrm>
          <a:prstGeom prst="line">
            <a:avLst/>
          </a:prstGeom>
          <a:ln w="12700">
            <a:solidFill>
              <a:srgbClr val="D8D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31520" y="109728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0151A"/>
                </a:solidFill>
                <a:latin typeface="Segoe UI"/>
              </a:rPr>
              <a:t>What's real, 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0">
                <a:solidFill>
                  <a:srgbClr val="3F4A47"/>
                </a:solidFill>
                <a:latin typeface="Segoe UI"/>
              </a:rPr>
              <a:t>—  Open: Outlook's Chromium accessibility gap — same limitation as Edge, but it's a desktop app CDP can't attach to. Still unsolved, documented as such.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F4A47"/>
                </a:solidFill>
                <a:latin typeface="Segoe UI"/>
              </a:rPr>
              <a:t>—  Open: full GenieX-runtime, on-device latency for the reasoning model — needs physical Snapdragon hardware, not yet measured.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F4A47"/>
                </a:solidFill>
                <a:latin typeface="Segoe UI"/>
              </a:rPr>
              <a:t>—  Done: 18 adversarial guardrail tests across all 3 target apps, a fixed task-list harness (100% pass rate), and short-term reasoning memory (last 3 turns).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F4A47"/>
                </a:solidFill>
                <a:latin typeface="Segoe UI"/>
              </a:rPr>
              <a:t>—  This submission was built without physical Snapdragon hardware — every claim here is labeled by exactly how it was verified.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5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5F7F4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FB3AC"/>
                </a:solidFill>
                <a:latin typeface="Segoe UI"/>
              </a:rPr>
              <a:t>github.com/kartik1pandey/relay-accessibility-agent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FB3AC"/>
                </a:solidFill>
                <a:latin typeface="Segoe UI"/>
              </a:rPr>
              <a:t>Snapdragon AI Lab Build &amp; Present Challenge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