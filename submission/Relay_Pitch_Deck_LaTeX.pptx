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2D2D96"/>
                </a:solidFill>
                <a:latin typeface="Segoe UI"/>
              </a:rPr>
              <a:t>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D2D96"/>
                </a:solidFill>
                <a:latin typeface="Segoe UI"/>
              </a:rPr>
              <a:t>An On-Device, Voice-Controlled, Screen-Reading Accessibility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96"/>
                </a:solidFill>
                <a:latin typeface="Segoe UI"/>
              </a:rPr>
              <a:t>Kartik Pandey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96"/>
                </a:solidFill>
                <a:latin typeface="Segoe UI"/>
              </a:rPr>
              <a:t>IIIT Naya Raipur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2D96"/>
                </a:solidFill>
                <a:latin typeface="Segoe UI"/>
              </a:rPr>
              <a:t>Snapdragon AI Lab Build &amp; Present Challenge,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Outline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137160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2D2D96"/>
                </a:solidFill>
                <a:latin typeface="Segoe UI"/>
              </a:rPr>
              <a:t>Introduction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2D2D96"/>
                </a:solidFill>
                <a:latin typeface="Segoe UI"/>
              </a:rPr>
              <a:t>Pipeline Overview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2D2D96"/>
                </a:solidFill>
                <a:latin typeface="Segoe UI"/>
              </a:rPr>
              <a:t>Screen Understanding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2D2D96"/>
                </a:solidFill>
                <a:latin typeface="Segoe UI"/>
              </a:rPr>
              <a:t>The Guardrail Engine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2D2D96"/>
                </a:solidFill>
                <a:latin typeface="Segoe UI"/>
              </a:rPr>
              <a:t>Implementation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2D2D96"/>
                </a:solidFill>
                <a:latin typeface="Segoe UI"/>
              </a:rPr>
              <a:t>Results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2D2D96"/>
                </a:solidFill>
                <a:latin typeface="Segoe UI"/>
              </a:rPr>
              <a:t>Limitations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The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People with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limited hand mobility or low vision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can't reliably operate a Windows PC through a mouse and a screen alone.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Existing screen readers </a:t>
            </a:r>
            <a:r>
              <a:rPr sz="1800" b="0" i="1">
                <a:solidFill>
                  <a:srgbClr val="2D2D96"/>
                </a:solidFill>
                <a:latin typeface="Segoe UI"/>
              </a:rPr>
              <a:t>describe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a screen but don't act on it; existing automation agents act, but weren't built around this population's safety needs.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Idea: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a voice-first agent that both understands the screen and acts on it — with a person narrating every step, and a spoken confirmation gate on anything consequential.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41648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 i="0">
                <a:solidFill>
                  <a:srgbClr val="2D2D96"/>
                </a:solidFill>
                <a:latin typeface="Segoe UI"/>
              </a:rPr>
              <a:t>Design goals</a:t>
            </a:r>
          </a:p>
          <a:p>
            <a:r>
              <a:rPr sz="1400" b="0" i="0">
                <a:solidFill>
                  <a:srgbClr val="2D2D96"/>
                </a:solidFill>
                <a:latin typeface="Segoe UI"/>
              </a:rPr>
              <a:t>On-device only, no cloud round-trip for speech or screen understanding · never act on anything sensitive without a spoken “yes” · scoped assistive technology, not a general autonomous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Why Not Just Use a General Computer-Use Agent?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General autonomous agents can already read a screen and click or type on it.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But the cost of being wrong is asymmetric: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      -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Agent mis-clicks a harmless button → annoying, but recoverable.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      -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Agent confidently taps “Send” / “Delete” / “Pay” on a misread screen → real, sometimes irreversible harm.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⇒ the whole design is biased toward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safety over autonomy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: nothing consequential executes without a spoken confirmation, ever.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End-to-End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40080" y="137160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Voice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37160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Whisper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speech-to-text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Screen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37160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Reasoning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MeloTTS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speaks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88036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Action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executes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88036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Guardrail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1760220"/>
            <a:ext cx="320040" cy="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00600" y="1760220"/>
            <a:ext cx="320040" cy="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40880" y="1760220"/>
            <a:ext cx="320040" cy="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80760" y="2148840"/>
            <a:ext cx="2240280" cy="73152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800600" y="3268980"/>
            <a:ext cx="320040" cy="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560320" y="3268980"/>
            <a:ext cx="320040" cy="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Screen understanding checks the UI Automation accessibility tree first; only falls back to a vision-language model when that tree doesn't have enough named, enabled controls to work with.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The guardrail check never changes: two-tier ALLOW / CONFIRM / BLOCK against pattern-matched control names, evaluated before any action executes.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The Fast Path — UI Automation Tree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Reads the live accessibility tree first: named, enabled controls, no model call needed.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Verified against real, live windows on this machine: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      -  </a:t>
            </a:r>
            <a:r>
              <a:rPr sz="1600" b="1" i="0">
                <a:solidFill>
                  <a:srgbClr val="2D2D96"/>
                </a:solidFill>
                <a:latin typeface="Segoe UI"/>
              </a:rPr>
              <a:t>Media Player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 — 211 elements, 113 named + enabled, real actionable content (Search, Open file(s), Recent media).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      -  </a:t>
            </a:r>
            <a:r>
              <a:rPr sz="1600" b="1" i="0">
                <a:solidFill>
                  <a:srgbClr val="2D2D96"/>
                </a:solidFill>
                <a:latin typeface="Segoe UI"/>
              </a:rPr>
              <a:t>Notepad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 — a simple-app proxy, 24 elements, a real scroll action executed successfully.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Falls back to a vision-language model only when the tree genuinely doesn't have enough to work with — not the common case, the exception.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The Chromium Gap — Found, Verified, and Fixed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Edge and Outlook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are both Chromium/WebView2-based: walking their UI Automation tree 12–14 levels deep surfaces window chrome only —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zero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real page content, confirmed, not assumed.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Fixed for Edge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via the Chrome DevTools Protocol: real page content read from a live Wikipedia page, a real value typed into the real search box, and the write independently confirmed by re-reading the live DOM afterward.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Outlook's equivalent gap remains open — it's a desktop app, not a browser tab the DevTools Protocol can attach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425696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 i="0">
                <a:solidFill>
                  <a:srgbClr val="2D2D96"/>
                </a:solidFill>
                <a:latin typeface="Segoe UI"/>
              </a:rPr>
              <a:t>Every claim here is labeled by how it was verified</a:t>
            </a:r>
          </a:p>
          <a:p>
            <a:r>
              <a:rPr sz="1400" b="0" i="0">
                <a:solidFill>
                  <a:srgbClr val="2D2D96"/>
                </a:solidFill>
                <a:latin typeface="Segoe UI"/>
              </a:rPr>
              <a:t>Run on real hardware/software, confirmed from real source code, or explicitly marked as not yet possible without Snapdragon-class hardware.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Two-Tier Decision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Every decision is checked against the target control's name </a:t>
            </a:r>
            <a:r>
              <a:rPr sz="1800" b="0" i="1">
                <a:solidFill>
                  <a:srgbClr val="2D2D96"/>
                </a:solidFill>
                <a:latin typeface="Segoe UI"/>
              </a:rPr>
              <a:t>before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it executes: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      -  </a:t>
            </a:r>
            <a:r>
              <a:rPr sz="1600" b="1" i="0">
                <a:solidFill>
                  <a:srgbClr val="2D2D96"/>
                </a:solidFill>
                <a:latin typeface="Segoe UI"/>
              </a:rPr>
              <a:t>BLOCK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      name matches a block pattern (irreversible)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      -  </a:t>
            </a:r>
            <a:r>
              <a:rPr sz="1600" b="1" i="0">
                <a:solidFill>
                  <a:srgbClr val="2D2D96"/>
                </a:solidFill>
                <a:latin typeface="Segoe UI"/>
              </a:rPr>
              <a:t>CONFIRM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   name matches a confirm pattern (consequential)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      -  </a:t>
            </a:r>
            <a:r>
              <a:rPr sz="1600" b="1" i="0">
                <a:solidFill>
                  <a:srgbClr val="2D2D96"/>
                </a:solidFill>
                <a:latin typeface="Segoe UI"/>
              </a:rPr>
              <a:t>ALLOW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      otherwise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CONFIRM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: send/submit/post/publish, pay/buy/transfer, delete/remove/erase, account or security changes — requires a spoken “yes” before proceeding.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BLOCK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: factory reset, reformat, disabling the firewall or antivirus — never executes, no override.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Every decision is written to a persisted, append-only audit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Adversarial Testing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18 adversarial test cases built from plausible real controls across all three target apps.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Found a genuine gap: the pattern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\bdelete\b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's word boundary didn't match inside “deleted” — so a real control like “Empty deleted items folder” silently fell through to ALLOW.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Fixed by widening 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delete/remove/erase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to also catch -ed/-ing/-ion forms — a widening, never a narrowing, by design: these patterns should get harder to change, not easier.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The Full Decision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46304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Guardrail check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(pattern match on name)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Spoken confirmation</a:t>
            </a:r>
          </a:p>
          <a:p>
            <a:pPr algn="ctr"/>
            <a:r>
              <a:rPr sz="1100" b="0" i="0">
                <a:solidFill>
                  <a:srgbClr val="2D2D96"/>
                </a:solidFill>
                <a:latin typeface="Segoe UI"/>
              </a:rPr>
              <a:t>(“yes” required)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D2D96"/>
                </a:solidFill>
                <a:latin typeface="Segoe UI"/>
              </a:rPr>
              <a:t>ALLOW → act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1488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D2D96"/>
                </a:solidFill>
                <a:latin typeface="Segoe UI"/>
              </a:rPr>
              <a:t>BLOCK → never executes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4290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D2D96"/>
                </a:solidFill>
                <a:latin typeface="Segoe UI"/>
              </a:rPr>
              <a:t>“yes” → act</a:t>
            </a:r>
          </a:p>
          <a:p>
            <a:r>
              <a:rPr sz="1300" b="0" i="0">
                <a:solidFill>
                  <a:srgbClr val="2D2D96"/>
                </a:solidFill>
                <a:latin typeface="Segoe UI"/>
              </a:rPr>
              <a:t>silence/“no” → cancel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206240" y="1600200"/>
            <a:ext cx="640080" cy="13716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06240" y="1828800"/>
            <a:ext cx="640080" cy="54864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60320" y="2377440"/>
            <a:ext cx="0" cy="914400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06240" y="3749039"/>
            <a:ext cx="640080" cy="45721"/>
          </a:xfrm>
          <a:prstGeom prst="line">
            <a:avLst/>
          </a:prstGeom>
          <a:ln w="19050">
            <a:solidFill>
              <a:srgbClr val="2D2D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Most decisions resolve immediately (ALLOW or BLOCK).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Only genuinely consequential actions pay the extra cost of a spoken confirmation round-trip.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What's Actually Real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Whisper speech-to-text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— real transcription of a known test clip, reproduced three independent ways.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MeloTTS-EN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— real synthesis, real audio, played back through real speakers (five independent real blockers found and fixed to get there).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The full agent.py orchestration loop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— a real mic recording → real transcription → real UI Automation tree read → real guardrail gate → real action → real speech, proven end to end against a live window. Only the NPU-dependent reasoning step is mocked.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800" b="1" i="0">
                <a:solidFill>
                  <a:srgbClr val="2D2D96"/>
                </a:solidFill>
                <a:latin typeface="Segoe UI"/>
              </a:rPr>
              <a:t>cdp_perception.py</a:t>
            </a:r>
            <a:r>
              <a:rPr sz="1800" b="0" i="0">
                <a:solidFill>
                  <a:srgbClr val="2D2D96"/>
                </a:solidFill>
                <a:latin typeface="Segoe UI"/>
              </a:rPr>
              <a:t> — the Chrome DevTools Protocol fix for Edge, wired into agent.py's real orchestration and demonstrated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Competitive Differentiation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9436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D2D96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D2D96"/>
                          </a:solidFill>
                          <a:latin typeface="Segoe UI"/>
                        </a:rPr>
                        <a:t>Safety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D2D96"/>
                          </a:solidFill>
                          <a:latin typeface="Segoe UI"/>
                        </a:rPr>
                        <a:t>Enforcement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Deft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None found anywhere in either backing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Orbit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None — but never takes actions at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ScreenSaathi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Keyword list downgrades risky plans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Code-level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Sally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A prompt asking the model nicely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Model-enforced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96"/>
                          </a:solidFill>
                          <a:latin typeface="Segoe UI"/>
                        </a:rPr>
                        <a:t>Relay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96"/>
                          </a:solidFill>
                          <a:latin typeface="Segoe UI"/>
                        </a:rPr>
                        <a:t>ALLOW / CONFIRM / BLOCK + spoken yes + 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96"/>
                          </a:solidFill>
                          <a:latin typeface="Segoe UI"/>
                        </a:rPr>
                        <a:t>Code-level, pre-execution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2D2D96"/>
                </a:solidFill>
                <a:latin typeface="Segoe UI"/>
              </a:rPr>
              <a:t>Verified against each project's real, public source code — not a secondhand summary.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Of five comparable projects, Relay is the only one with a deterministic, code-level safety gate that doesn't depend on a language model correctly following an instruction.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Real Snapdragon Hardware — Qualcomm AI Hub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D2D96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D2D96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Whisper-base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~49.1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Whisper-base decoder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96"/>
                          </a:solidFill>
                          <a:latin typeface="Segoe UI"/>
                        </a:rPr>
                        <a:t>~3.7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2D2D96"/>
                </a:solidFill>
                <a:latin typeface="Segoe UI"/>
              </a:rPr>
              <a:t>Compiled and profiled on a real Snapdragon X Elite CRD via Qualcomm AI Hub's hosted device farm.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A real compile + profile job on actual target silicon — not a simulation, and an order of magnitude faster than this laptop's CPU.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600" b="0" i="0">
                <a:solidFill>
                  <a:srgbClr val="2D2D96"/>
                </a:solidFill>
                <a:latin typeface="Segoe UI"/>
              </a:rPr>
              <a:t>Precisely scoped: this is AI Hub's compile/profile path, not yet a full GenieX runtime measurement, which needs physical device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D2D96"/>
                </a:solidFill>
                <a:latin typeface="Segoe UI"/>
              </a:rPr>
              <a:t>Honest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68680"/>
            <a:ext cx="11091672" cy="0"/>
          </a:xfrm>
          <a:prstGeom prst="line">
            <a:avLst/>
          </a:prstGeom>
          <a:ln w="12700">
            <a:solidFill>
              <a:srgbClr val="2D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700" b="1" i="0">
                <a:solidFill>
                  <a:srgbClr val="2D2D96"/>
                </a:solidFill>
                <a:latin typeface="Segoe UI"/>
              </a:rPr>
              <a:t>Open: </a:t>
            </a:r>
            <a:r>
              <a:rPr sz="1700" b="0" i="0">
                <a:solidFill>
                  <a:srgbClr val="2D2D96"/>
                </a:solidFill>
                <a:latin typeface="Segoe UI"/>
              </a:rPr>
              <a:t>Outlook's Chromium accessibility gap — the same limitation as Edge, but it's a desktop app the DevTools Protocol can't attach to. Unsolved, documented as such.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700" b="1" i="0">
                <a:solidFill>
                  <a:srgbClr val="2D2D96"/>
                </a:solidFill>
                <a:latin typeface="Segoe UI"/>
              </a:rPr>
              <a:t>Open: </a:t>
            </a:r>
            <a:r>
              <a:rPr sz="1700" b="0" i="0">
                <a:solidFill>
                  <a:srgbClr val="2D2D96"/>
                </a:solidFill>
                <a:latin typeface="Segoe UI"/>
              </a:rPr>
              <a:t>full GenieX-runtime, on-device latency for the reasoning model — needs physical Snapdragon hardware, not yet measured.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700" b="1" i="0">
                <a:solidFill>
                  <a:srgbClr val="2D2D96"/>
                </a:solidFill>
                <a:latin typeface="Segoe UI"/>
              </a:rPr>
              <a:t>Done: </a:t>
            </a:r>
            <a:r>
              <a:rPr sz="1700" b="0" i="0">
                <a:solidFill>
                  <a:srgbClr val="2D2D96"/>
                </a:solidFill>
                <a:latin typeface="Segoe UI"/>
              </a:rPr>
              <a:t>18 adversarial guardrail tests, a fixed task-list harness (100% pass rate, 5/5), and short-term reasoning memory (last 3 turns).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D2D96"/>
                </a:solidFill>
                <a:latin typeface="Segoe UI"/>
              </a:rPr>
              <a:t>○  </a:t>
            </a:r>
            <a:r>
              <a:rPr sz="1700" b="0" i="0">
                <a:solidFill>
                  <a:srgbClr val="2D2D96"/>
                </a:solidFill>
                <a:latin typeface="Segoe UI"/>
              </a:rPr>
              <a:t>This submission was built without physical Snapdragon hardware — every claim in this deck is labeled by exactly how it was 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2D2D96"/>
                </a:solidFill>
                <a:latin typeface="Segoe UI"/>
              </a:rPr>
              <a:t>github.com/kartik1pandey/relay-accessibility-agent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